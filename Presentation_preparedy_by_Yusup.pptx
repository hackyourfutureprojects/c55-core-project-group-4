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58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x="14630400" cy="8229600"/>
  <p:notesSz cx="8229600" cy="146304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" name="Google Shape;5;n"/>
          <p:cNvSpPr/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" name="Google Shape;79;p1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0" name="Google Shape;80;p1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9" name="Google Shape;89;p2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p3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8" name="Google Shape;98;p3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p4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1" name="Google Shape;111;p4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" name="Google Shape;120;p5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1" name="Google Shape;121;p5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p6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2" name="Google Shape;132;p6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p7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3" name="Google Shape;143;p7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1" name="Google Shape;151;p8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2" name="Google Shape;152;p8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p9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1" name="Google Shape;161;p9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" name="Google Shape;12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3" name="Google Shape;13;p11" descr="preencoded.png">
            <a:hlinkClick r:id="rId2"/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" name="Google Shape;16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7" name="Google Shape;17;p12" descr="preencoded.png">
            <a:hlinkClick r:id="rId2"/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7 master">
  <p:cSld name="Slide 7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" name="Google Shape;20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1" name="Google Shape;21;p15" descr="preencoded.png">
            <a:hlinkClick r:id="rId2"/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8 master">
  <p:cSld name="Slide 8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" name="Google Shape;24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5" name="Google Shape;25;p16" descr="preencoded.png">
            <a:hlinkClick r:id="rId2"/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3 master">
  <p:cSld name="Slide 3 mast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9" name="Google Shape;29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30" name="Google Shape;30;p18" descr="preencoded.png">
            <a:hlinkClick r:id="rId2"/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4 master">
  <p:cSld name="Slide 4 mast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3" name="Google Shape;33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34" name="Google Shape;34;p19" descr="preencoded.png">
            <a:hlinkClick r:id="rId2"/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5 master">
  <p:cSld name="Slide 5 master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" name="Google Shape;37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38" name="Google Shape;38;p20" descr="preencoded.png">
            <a:hlinkClick r:id="rId2"/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6 master">
  <p:cSld name="Slide 6 master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1" name="Google Shape;41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42" name="Google Shape;42;p21" descr="preencoded.png">
            <a:hlinkClick r:id="rId2"/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2 master">
  <p:cSld name="Slide 2 mast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6" name="Google Shape;46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47" name="Google Shape;47;p14" descr="preencoded.png">
            <a:hlinkClick r:id="rId2"/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 master">
  <p:cSld name="Slide 1 mast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1" name="Google Shape;51;p2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52" name="Google Shape;52;p23" descr="preencoded.png">
            <a:hlinkClick r:id="rId2"/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3 master">
  <p:cSld name="Slide 3 master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5" name="Google Shape;55;p2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56" name="Google Shape;56;p24" descr="preencoded.png">
            <a:hlinkClick r:id="rId2"/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4 master">
  <p:cSld name="Slide 4 master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9" name="Google Shape;59;p2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60" name="Google Shape;60;p25" descr="preencoded.png">
            <a:hlinkClick r:id="rId2"/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5 master">
  <p:cSld name="Slide 5 master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3" name="Google Shape;63;p2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64" name="Google Shape;64;p26" descr="preencoded.png">
            <a:hlinkClick r:id="rId2"/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6 master">
  <p:cSld name="Slide 6 master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7" name="Google Shape;67;p2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68" name="Google Shape;68;p27" descr="preencoded.png">
            <a:hlinkClick r:id="rId2"/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7 master">
  <p:cSld name="Slide 7 master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1" name="Google Shape;71;p2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72" name="Google Shape;72;p28" descr="preencoded.png">
            <a:hlinkClick r:id="rId2"/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8 master">
  <p:cSld name="Slide 8 master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5" name="Google Shape;75;p2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76" name="Google Shape;76;p29" descr="preencoded.png">
            <a:hlinkClick r:id="rId2"/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0" Type="http://schemas.openxmlformats.org/officeDocument/2006/relationships/theme" Target="../theme/theme2.xml"/><Relationship Id="rId1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3.xml"/><Relationship Id="rId2" Type="http://schemas.openxmlformats.org/officeDocument/2006/relationships/hyperlink" Target="https://c55-core-project-group-4-cookbook.onrender.com/" TargetMode="Externa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"/>
          <p:cNvSpPr/>
          <p:nvPr/>
        </p:nvSpPr>
        <p:spPr>
          <a:xfrm>
            <a:off x="6280190" y="3045976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4450"/>
              <a:buFont typeface="Arial" panose="020B0604020202020204"/>
              <a:buNone/>
            </a:pPr>
            <a:r>
              <a:rPr lang="en-US" sz="4450" b="0" i="0" u="none" strike="noStrike" cap="none">
                <a:solidFill>
                  <a:srgbClr val="3A3A3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Cookbook</a:t>
            </a:r>
            <a:endParaRPr sz="44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4" name="Google Shape;84;p1"/>
          <p:cNvSpPr/>
          <p:nvPr/>
        </p:nvSpPr>
        <p:spPr>
          <a:xfrm>
            <a:off x="6280150" y="4095131"/>
            <a:ext cx="7556400" cy="26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000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750"/>
              <a:buFont typeface="Arial" panose="020B0604020202020204"/>
              <a:buNone/>
            </a:pPr>
            <a:r>
              <a:rPr lang="en-US" sz="1750" b="0" i="0" u="none" strike="noStrike" cap="none">
                <a:solidFill>
                  <a:srgbClr val="4C4C4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 recipe discovery web app by </a:t>
            </a:r>
            <a:r>
              <a:rPr lang="en-US" sz="1750" b="1" i="0" u="none" strike="noStrike" cap="none">
                <a:solidFill>
                  <a:srgbClr val="4C4C4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Group 4</a:t>
            </a:r>
            <a:r>
              <a:rPr lang="en-US" sz="1750" b="0" i="0" u="none" strike="noStrike" cap="none">
                <a:solidFill>
                  <a:srgbClr val="4C4C4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— combining thousands of global dishes with a personal cohort collection. </a:t>
            </a:r>
            <a:endParaRPr sz="1750" b="0" i="0" u="none" strike="noStrike" cap="none">
              <a:solidFill>
                <a:srgbClr val="4C4C4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6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 panose="020F0502020204030204"/>
              <a:buNone/>
            </a:pPr>
            <a:endParaRPr sz="1750" b="0" i="0" u="none" strike="noStrike" cap="none">
              <a:solidFill>
                <a:srgbClr val="4C4C4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63000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750"/>
              <a:buFont typeface="Arial" panose="020B0604020202020204"/>
              <a:buNone/>
            </a:pPr>
            <a:r>
              <a:rPr lang="en-US" sz="1750" b="0" i="0" u="none" strike="noStrike" cap="none">
                <a:solidFill>
                  <a:srgbClr val="4C4C4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Build by Diana, Ham</a:t>
            </a:r>
            <a:r>
              <a:rPr lang="en-US" sz="1750">
                <a:solidFill>
                  <a:srgbClr val="4C4C4C"/>
                </a:solidFill>
              </a:rPr>
              <a:t>e</a:t>
            </a:r>
            <a:r>
              <a:rPr lang="en-US" sz="1750" b="0" i="0" u="none" strike="noStrike" cap="none">
                <a:solidFill>
                  <a:srgbClr val="4C4C4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d, Yana, and Yusup, mentored by Jim.</a:t>
            </a:r>
            <a:endParaRPr sz="1750" b="0" i="0" u="none" strike="noStrike" cap="none">
              <a:solidFill>
                <a:srgbClr val="4C4C4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63000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750"/>
              <a:buFont typeface="Arial" panose="020B0604020202020204"/>
              <a:buNone/>
            </a:pPr>
            <a:endParaRPr sz="1750">
              <a:solidFill>
                <a:srgbClr val="4C4C4C"/>
              </a:solidFill>
            </a:endParaRPr>
          </a:p>
          <a:p>
            <a:pPr marL="0" marR="0" lvl="0" indent="0" algn="l" rtl="0">
              <a:lnSpc>
                <a:spcPct val="163000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750"/>
              <a:buFont typeface="Arial" panose="020B0604020202020204"/>
              <a:buNone/>
            </a:pPr>
            <a:r>
              <a:rPr lang="en-US" sz="1750" b="1">
                <a:solidFill>
                  <a:srgbClr val="4C4C4C"/>
                </a:solidFill>
              </a:rPr>
              <a:t>Presented by Yusup</a:t>
            </a:r>
            <a:endParaRPr sz="1750" b="1">
              <a:solidFill>
                <a:srgbClr val="4C4C4C"/>
              </a:solidFill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12642850" y="7393305"/>
            <a:ext cx="1906905" cy="79629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/>
          <p:nvPr/>
        </p:nvSpPr>
        <p:spPr>
          <a:xfrm>
            <a:off x="793790" y="2025253"/>
            <a:ext cx="4205168" cy="708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4450"/>
              <a:buFont typeface="Arial" panose="020B0604020202020204"/>
              <a:buNone/>
            </a:pPr>
            <a:r>
              <a:rPr lang="en-US" sz="4450" b="0" i="0" u="none" strike="noStrike" cap="none">
                <a:solidFill>
                  <a:srgbClr val="3A3A3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Meet the App</a:t>
            </a:r>
            <a:endParaRPr sz="44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2" name="Google Shape;92;p2"/>
          <p:cNvSpPr/>
          <p:nvPr/>
        </p:nvSpPr>
        <p:spPr>
          <a:xfrm>
            <a:off x="793790" y="2960846"/>
            <a:ext cx="4205168" cy="3266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000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750"/>
              <a:buFont typeface="Arial" panose="020B0604020202020204"/>
              <a:buNone/>
            </a:pPr>
            <a:r>
              <a:rPr lang="en-US" sz="1750" b="0" i="0" u="none" strike="noStrike" cap="none">
                <a:solidFill>
                  <a:srgbClr val="4C4C4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Cookbook is designed to feel intuitive across every device. The mobile interface features a </a:t>
            </a:r>
            <a:r>
              <a:rPr lang="en-US" sz="1750" b="1" i="0" u="none" strike="noStrike" cap="none">
                <a:solidFill>
                  <a:srgbClr val="4C4C4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theme toggle</a:t>
            </a:r>
            <a:r>
              <a:rPr lang="en-US" sz="1750" b="0" i="0" u="none" strike="noStrike" cap="none">
                <a:solidFill>
                  <a:srgbClr val="4C4C4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for light/dark mode, a</a:t>
            </a:r>
            <a:r>
              <a:rPr lang="en-US" sz="1750" b="1" i="0" u="none" strike="noStrike" cap="none">
                <a:solidFill>
                  <a:srgbClr val="4C4C4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menu</a:t>
            </a:r>
            <a:r>
              <a:rPr lang="en-US" sz="1750" b="0" i="0" u="none" strike="noStrike" cap="none">
                <a:solidFill>
                  <a:srgbClr val="4C4C4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for seamless navigation, and a </a:t>
            </a:r>
            <a:r>
              <a:rPr lang="en-US" sz="1750" b="1" i="0" u="none" strike="noStrike" cap="none">
                <a:solidFill>
                  <a:srgbClr val="4C4C4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floating AI chatbot</a:t>
            </a:r>
            <a:r>
              <a:rPr lang="en-US" sz="1750" b="0" i="0" u="none" strike="noStrike" cap="none">
                <a:solidFill>
                  <a:srgbClr val="4C4C4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where users can ask questions and receive personalized recipe suggestions — all within a clean, accessible layout.</a:t>
            </a:r>
            <a:endParaRPr sz="17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93" name="Google Shape;93;p2" descr="C:/Users/yosef/Pictures/Screenshots/recipe.pngrecipe"/>
          <p:cNvPicPr preferRelativeResize="0"/>
          <p:nvPr/>
        </p:nvPicPr>
        <p:blipFill rotWithShape="1">
          <a:blip r:embed="rId1"/>
          <a:srcRect l="220" r="220"/>
          <a:stretch>
            <a:fillRect/>
          </a:stretch>
        </p:blipFill>
        <p:spPr>
          <a:xfrm>
            <a:off x="5559981" y="1629608"/>
            <a:ext cx="8284131" cy="4970383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2"/>
          <p:cNvSpPr/>
          <p:nvPr/>
        </p:nvSpPr>
        <p:spPr>
          <a:xfrm>
            <a:off x="12642850" y="7393305"/>
            <a:ext cx="1906905" cy="79629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3" descr="E:/HYF/c55-core-project-group-4/public/img/readme/app_architecture.pngapp_architecture"/>
          <p:cNvPicPr preferRelativeResize="0"/>
          <p:nvPr/>
        </p:nvPicPr>
        <p:blipFill rotWithShape="1">
          <a:blip r:embed="rId1"/>
          <a:srcRect l="2809" r="2983"/>
          <a:stretch>
            <a:fillRect/>
          </a:stretch>
        </p:blipFill>
        <p:spPr>
          <a:xfrm>
            <a:off x="5401310" y="1629410"/>
            <a:ext cx="8585835" cy="497014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3"/>
          <p:cNvSpPr/>
          <p:nvPr/>
        </p:nvSpPr>
        <p:spPr>
          <a:xfrm>
            <a:off x="546100" y="5699760"/>
            <a:ext cx="3970020" cy="916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450"/>
              <a:buFont typeface="Arial" panose="020B0604020202020204"/>
              <a:buNone/>
            </a:pPr>
            <a:r>
              <a:rPr lang="en-US" sz="1450" b="0" i="0" u="none" strike="noStrike" cap="none">
                <a:solidFill>
                  <a:srgbClr val="2F549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features/</a:t>
            </a:r>
            <a:endParaRPr sz="1450" b="0" i="0" u="none" strike="noStrike" cap="none">
              <a:solidFill>
                <a:srgbClr val="2F549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 panose="020B0604020202020204"/>
              <a:buNone/>
            </a:pPr>
            <a:r>
              <a:rPr lang="en-US" sz="145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take data from services and render it to the DOM</a:t>
            </a:r>
            <a:endParaRPr sz="14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546100" y="3025775"/>
            <a:ext cx="4258310" cy="748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450"/>
              <a:buFont typeface="Arial" panose="020B0604020202020204"/>
              <a:buNone/>
            </a:pPr>
            <a:r>
              <a:rPr lang="en-US" sz="1450" b="0" i="0" u="none" strike="noStrike" cap="none">
                <a:solidFill>
                  <a:srgbClr val="2F549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components/</a:t>
            </a:r>
            <a:endParaRPr sz="1450" b="0" i="0" u="none" strike="noStrike" cap="none">
              <a:solidFill>
                <a:srgbClr val="2F5496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 panose="020B0604020202020204"/>
              <a:buNone/>
            </a:pPr>
            <a:r>
              <a:rPr lang="en-US" sz="145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reusable UI elements</a:t>
            </a:r>
            <a:endParaRPr sz="14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546100" y="4224655"/>
            <a:ext cx="4047490" cy="1310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450"/>
              <a:buFont typeface="Arial" panose="020B0604020202020204"/>
              <a:buNone/>
            </a:pPr>
            <a:r>
              <a:rPr lang="en-US" sz="1450" b="0" i="0" u="none" strike="noStrike" cap="none">
                <a:solidFill>
                  <a:srgbClr val="2F549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services/</a:t>
            </a:r>
            <a:endParaRPr sz="1450" b="0" i="0" u="none" strike="noStrike" cap="none">
              <a:solidFill>
                <a:srgbClr val="2F5496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 panose="020B0604020202020204"/>
              <a:buNone/>
            </a:pPr>
            <a:r>
              <a:rPr lang="en-US" sz="145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services/ — frontend middleman that sends</a:t>
            </a:r>
            <a:endParaRPr sz="145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 panose="020B0604020202020204"/>
              <a:buNone/>
            </a:pPr>
            <a:r>
              <a:rPr lang="en-US" sz="145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HTTP requests between the browser and the</a:t>
            </a:r>
            <a:endParaRPr sz="145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 panose="020B0604020202020204"/>
              <a:buNone/>
            </a:pPr>
            <a:r>
              <a:rPr lang="en-US" sz="145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server. </a:t>
            </a:r>
            <a:endParaRPr sz="14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546100" y="1882775"/>
            <a:ext cx="3970020" cy="692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450"/>
              <a:buFont typeface="Arial" panose="020B0604020202020204"/>
              <a:buNone/>
            </a:pPr>
            <a:r>
              <a:rPr lang="en-US" sz="1450" b="0" i="0" u="none" strike="noStrike" cap="none">
                <a:solidFill>
                  <a:srgbClr val="2F549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events/</a:t>
            </a:r>
            <a:endParaRPr sz="1450" b="0" i="0" u="none" strike="noStrike" cap="none">
              <a:solidFill>
                <a:srgbClr val="2F5496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 panose="020B0604020202020204"/>
              <a:buNone/>
            </a:pPr>
            <a:r>
              <a:rPr lang="en-US" sz="145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handle user interactions</a:t>
            </a:r>
            <a:endParaRPr sz="14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676337" y="462527"/>
            <a:ext cx="9413400" cy="9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4450"/>
              <a:buFont typeface="Arial" panose="020B0604020202020204"/>
              <a:buNone/>
            </a:pPr>
            <a:r>
              <a:rPr lang="en-US" sz="4450" b="0" i="0" u="none" strike="noStrike" cap="none">
                <a:solidFill>
                  <a:srgbClr val="3A3A3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Frontend Architecture (Yana)</a:t>
            </a:r>
            <a:endParaRPr sz="44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12642850" y="7393305"/>
            <a:ext cx="1906905" cy="79629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7" name="Google Shape;107;p3"/>
          <p:cNvSpPr txBox="1"/>
          <p:nvPr/>
        </p:nvSpPr>
        <p:spPr>
          <a:xfrm>
            <a:off x="513080" y="7058025"/>
            <a:ext cx="7315200" cy="64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DOM is the browser’s tree-like model of a web page. JavaScript uses it to read, change, and react to HTML content on the page.</a:t>
            </a: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4" descr="E:/HYF/c55-core-project-group-4/public/img/readme/app_architecture.pngapp_architecture"/>
          <p:cNvPicPr preferRelativeResize="0"/>
          <p:nvPr/>
        </p:nvPicPr>
        <p:blipFill rotWithShape="1">
          <a:blip r:embed="rId1"/>
          <a:srcRect l="2809" r="2983"/>
          <a:stretch>
            <a:fillRect/>
          </a:stretch>
        </p:blipFill>
        <p:spPr>
          <a:xfrm>
            <a:off x="5401310" y="1629410"/>
            <a:ext cx="8585835" cy="497014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4"/>
          <p:cNvSpPr/>
          <p:nvPr/>
        </p:nvSpPr>
        <p:spPr>
          <a:xfrm>
            <a:off x="622935" y="1543685"/>
            <a:ext cx="3970020" cy="1170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450"/>
              <a:buFont typeface="Arial" panose="020B0604020202020204"/>
              <a:buNone/>
            </a:pPr>
            <a:r>
              <a:rPr lang="en-US" sz="1450">
                <a:solidFill>
                  <a:srgbClr val="2F549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mealdb.js</a:t>
            </a:r>
            <a:endParaRPr sz="1450">
              <a:solidFill>
                <a:srgbClr val="2F5496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6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Arial" panose="020B0604020202020204"/>
              <a:buNone/>
            </a:pPr>
            <a:r>
              <a:rPr lang="en-US" sz="145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Calls TheMealDB public API directly from the browser for global recipe data</a:t>
            </a:r>
            <a:endParaRPr sz="145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622935" y="3053080"/>
            <a:ext cx="4258310" cy="1254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450"/>
              <a:buFont typeface="Arial" panose="020B0604020202020204"/>
              <a:buNone/>
            </a:pPr>
            <a:r>
              <a:rPr lang="en-US" sz="1450">
                <a:solidFill>
                  <a:srgbClr val="2F549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favorite.js</a:t>
            </a:r>
            <a:endParaRPr sz="1450">
              <a:solidFill>
                <a:srgbClr val="2F5496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6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Arial" panose="020B0604020202020204"/>
              <a:buNone/>
            </a:pPr>
            <a:r>
              <a:rPr lang="en-US" sz="145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Saves and reads favorite recipes using</a:t>
            </a:r>
            <a:endParaRPr sz="145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6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Arial" panose="020B0604020202020204"/>
              <a:buNone/>
            </a:pPr>
            <a:r>
              <a:rPr lang="en-US" sz="145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browser local storage — lightweight and</a:t>
            </a:r>
            <a:endParaRPr sz="145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6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Arial" panose="020B0604020202020204"/>
              <a:buNone/>
            </a:pPr>
            <a:r>
              <a:rPr lang="en-US" sz="145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client-side</a:t>
            </a:r>
            <a:endParaRPr sz="145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676275" y="462280"/>
            <a:ext cx="8827135" cy="70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4450"/>
              <a:buFont typeface="Arial" panose="020B0604020202020204"/>
              <a:buNone/>
            </a:pPr>
            <a:r>
              <a:rPr lang="en-US" sz="4450">
                <a:solidFill>
                  <a:srgbClr val="3A3A3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Frontend (Hamed)</a:t>
            </a:r>
            <a:endParaRPr sz="44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12642850" y="7393305"/>
            <a:ext cx="1906905" cy="79629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5" descr="E:/HYF/c55-core-project-group-4/public/img/readme/app_architecture.pngapp_architecture"/>
          <p:cNvPicPr preferRelativeResize="0"/>
          <p:nvPr/>
        </p:nvPicPr>
        <p:blipFill rotWithShape="1">
          <a:blip r:embed="rId1"/>
          <a:srcRect l="2809" r="2983"/>
          <a:stretch>
            <a:fillRect/>
          </a:stretch>
        </p:blipFill>
        <p:spPr>
          <a:xfrm>
            <a:off x="5401310" y="1629410"/>
            <a:ext cx="8585835" cy="497014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5"/>
          <p:cNvSpPr/>
          <p:nvPr/>
        </p:nvSpPr>
        <p:spPr>
          <a:xfrm>
            <a:off x="622935" y="1543685"/>
            <a:ext cx="3970020" cy="1170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450"/>
              <a:buFont typeface="Arial" panose="020B0604020202020204"/>
              <a:buNone/>
            </a:pPr>
            <a:r>
              <a:rPr lang="en-US" sz="1450">
                <a:solidFill>
                  <a:srgbClr val="2F549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chat.js</a:t>
            </a:r>
            <a:endParaRPr sz="1450">
              <a:solidFill>
                <a:srgbClr val="2F5496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6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Arial" panose="020B0604020202020204"/>
              <a:buNone/>
            </a:pPr>
            <a:r>
              <a:rPr lang="en-US" sz="145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POSTs user messages to our backend, which forwards them to GitHub Models API (GPT-4.1)</a:t>
            </a:r>
            <a:endParaRPr sz="145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622935" y="3053080"/>
            <a:ext cx="4258310" cy="1254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450"/>
              <a:buFont typeface="Arial" panose="020B0604020202020204"/>
              <a:buNone/>
            </a:pPr>
            <a:r>
              <a:rPr lang="en-US" sz="1450">
                <a:solidFill>
                  <a:srgbClr val="2F549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cohort.js by Yana</a:t>
            </a:r>
            <a:endParaRPr sz="1450">
              <a:solidFill>
                <a:srgbClr val="2F5496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6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Arial" panose="020B0604020202020204"/>
              <a:buNone/>
            </a:pPr>
            <a:r>
              <a:rPr lang="en-US" sz="145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Fetches cohort recipes from Express,</a:t>
            </a:r>
            <a:endParaRPr sz="145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6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Arial" panose="020B0604020202020204"/>
              <a:buNone/>
            </a:pPr>
            <a:r>
              <a:rPr lang="en-US" sz="145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which reads from the SQLite database</a:t>
            </a:r>
            <a:endParaRPr sz="145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676275" y="462280"/>
            <a:ext cx="8827135" cy="70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4450"/>
              <a:buFont typeface="Arial" panose="020B0604020202020204"/>
              <a:buNone/>
            </a:pPr>
            <a:r>
              <a:rPr lang="en-US" sz="4450">
                <a:solidFill>
                  <a:srgbClr val="3A3A3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Backend-Frontend (Diana)</a:t>
            </a:r>
            <a:endParaRPr sz="44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7" name="Google Shape;127;p5"/>
          <p:cNvSpPr txBox="1"/>
          <p:nvPr/>
        </p:nvSpPr>
        <p:spPr>
          <a:xfrm>
            <a:off x="513080" y="4509770"/>
            <a:ext cx="4777740" cy="2090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66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50"/>
              <a:buFont typeface="Arial" panose="020B0604020202020204"/>
              <a:buNone/>
            </a:pPr>
            <a:r>
              <a:rPr lang="en-US" sz="1450" b="1">
                <a:solidFill>
                  <a:schemeClr val="accen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routes/chat.js</a:t>
            </a:r>
            <a:r>
              <a:rPr lang="en-US" sz="145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— receives messages, calls GitHub Models API with a structured system prompt, returns JSON</a:t>
            </a:r>
            <a:endParaRPr sz="145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6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Calibri" panose="020F0502020204030204"/>
              <a:buNone/>
            </a:pPr>
            <a:endParaRPr sz="14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66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50"/>
              <a:buFont typeface="Arial" panose="020B0604020202020204"/>
              <a:buNone/>
            </a:pPr>
            <a:r>
              <a:rPr lang="en-US" sz="1450" b="1">
                <a:solidFill>
                  <a:schemeClr val="accen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routes/cohort.js</a:t>
            </a:r>
            <a:r>
              <a:rPr lang="en-US" sz="145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— handles SQLite queries, exposes REST endpoints for fetch, filter, and search</a:t>
            </a:r>
            <a:endParaRPr sz="145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12642850" y="7393305"/>
            <a:ext cx="1906905" cy="79629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6" descr="E:/HYF/c55-core-project-group-4/public/img/readme/app_architecture.pngapp_architecture"/>
          <p:cNvPicPr preferRelativeResize="0"/>
          <p:nvPr/>
        </p:nvPicPr>
        <p:blipFill rotWithShape="1">
          <a:blip r:embed="rId1"/>
          <a:srcRect l="2809" r="2983"/>
          <a:stretch>
            <a:fillRect/>
          </a:stretch>
        </p:blipFill>
        <p:spPr>
          <a:xfrm>
            <a:off x="5401310" y="1629410"/>
            <a:ext cx="8585835" cy="497014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6"/>
          <p:cNvSpPr/>
          <p:nvPr/>
        </p:nvSpPr>
        <p:spPr>
          <a:xfrm>
            <a:off x="622935" y="1543685"/>
            <a:ext cx="3970020" cy="1664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450"/>
              <a:buFont typeface="Arial" panose="020B0604020202020204"/>
              <a:buNone/>
            </a:pPr>
            <a:r>
              <a:rPr lang="en-US" sz="1450">
                <a:solidFill>
                  <a:srgbClr val="2F549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app.js ( backend configurator)</a:t>
            </a:r>
            <a:endParaRPr sz="1450">
              <a:solidFill>
                <a:srgbClr val="2F5496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6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Arial" panose="020B0604020202020204"/>
              <a:buNone/>
            </a:pPr>
            <a:r>
              <a:rPr lang="en-US" sz="145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sets up the Express server, registers middleware like Morgan and JSON parsing, and registers the routes — routes/cohort.js at /api/cohort and routes/chat.js at /api/chat</a:t>
            </a:r>
            <a:endParaRPr sz="145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676275" y="462280"/>
            <a:ext cx="8827135" cy="70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4450"/>
              <a:buFont typeface="Arial" panose="020B0604020202020204"/>
              <a:buNone/>
            </a:pPr>
            <a:r>
              <a:rPr lang="en-US" sz="4450">
                <a:solidFill>
                  <a:srgbClr val="3A3A3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Backend (Yusup)</a:t>
            </a:r>
            <a:endParaRPr sz="44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622935" y="3553460"/>
            <a:ext cx="4258310" cy="706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450"/>
              <a:buFont typeface="Arial" panose="020B0604020202020204"/>
              <a:buNone/>
            </a:pPr>
            <a:r>
              <a:rPr lang="en-US" sz="1450">
                <a:solidFill>
                  <a:srgbClr val="2F549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CI/CD, Supertest integration, README.md</a:t>
            </a:r>
            <a:endParaRPr sz="1450">
              <a:solidFill>
                <a:srgbClr val="2F5496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450"/>
              <a:buFont typeface="Arial" panose="020B0604020202020204"/>
              <a:buNone/>
            </a:pPr>
            <a:r>
              <a:rPr lang="en-US" sz="1450">
                <a:solidFill>
                  <a:srgbClr val="2F549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145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sz="145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12642850" y="7393305"/>
            <a:ext cx="1906905" cy="79629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9" name="Google Shape;139;p6"/>
          <p:cNvSpPr txBox="1"/>
          <p:nvPr/>
        </p:nvSpPr>
        <p:spPr>
          <a:xfrm>
            <a:off x="617855" y="4403090"/>
            <a:ext cx="4191000" cy="1356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Supertest wraps Express app and simulates HTTP requests in memory, so you test your real routes and real database responses without spinning up a server.</a:t>
            </a:r>
            <a:endParaRPr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7" descr="E:/HYF/c55-core-project-group-4/public/img/readme/app_architecture.pngapp_architecture"/>
          <p:cNvPicPr preferRelativeResize="0"/>
          <p:nvPr/>
        </p:nvPicPr>
        <p:blipFill rotWithShape="1">
          <a:blip r:embed="rId1"/>
          <a:srcRect l="2809" r="2983"/>
          <a:stretch>
            <a:fillRect/>
          </a:stretch>
        </p:blipFill>
        <p:spPr>
          <a:xfrm>
            <a:off x="5401310" y="1629410"/>
            <a:ext cx="8585835" cy="497014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7"/>
          <p:cNvSpPr/>
          <p:nvPr/>
        </p:nvSpPr>
        <p:spPr>
          <a:xfrm>
            <a:off x="676275" y="462280"/>
            <a:ext cx="8827135" cy="70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4450"/>
              <a:buFont typeface="Arial" panose="020B0604020202020204"/>
              <a:buNone/>
            </a:pPr>
            <a:r>
              <a:rPr lang="en-US" sz="4450">
                <a:solidFill>
                  <a:srgbClr val="3A3A3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Deep dive into chat feature</a:t>
            </a:r>
            <a:endParaRPr sz="44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7" name="Google Shape;147;p7"/>
          <p:cNvSpPr txBox="1"/>
          <p:nvPr/>
        </p:nvSpPr>
        <p:spPr>
          <a:xfrm>
            <a:off x="197485" y="1778318"/>
            <a:ext cx="5080000" cy="5262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When the user clicks the Send button, handlerChat.js picks up the </a:t>
            </a:r>
            <a:r>
              <a:rPr lang="en-US" sz="1600" b="1">
                <a:solidFill>
                  <a:schemeClr val="accen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event and calls fetchChatReply() in services/chat.js,</a:t>
            </a:r>
            <a:r>
              <a:rPr lang="en-US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sz="1600" b="1">
                <a:solidFill>
                  <a:srgbClr val="00B05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which sends a POST request to /api/chat on the server.</a:t>
            </a:r>
            <a:endParaRPr sz="1600" b="1">
              <a:solidFill>
                <a:srgbClr val="00B05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routes/chat.js receives the request, loads the system prompt from server/utils/prompt.js, and uses the OpenAI SDK to build and send the call to the GitHub Models API. </a:t>
            </a:r>
            <a:r>
              <a:rPr lang="en-US" sz="1600" b="1">
                <a:solidFill>
                  <a:srgbClr val="00B05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AI returns a JSON object with title, instructions, and ingredients.</a:t>
            </a:r>
            <a:endParaRPr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server validates that title and instructions exist, then sends the result back to the browser</a:t>
            </a:r>
            <a:r>
              <a:rPr lang="en-US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with res.json({ reply: parsed }).</a:t>
            </a:r>
            <a:endParaRPr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services/chat.js receives the response and returns data.reply to handlerChat.js, </a:t>
            </a:r>
            <a:r>
              <a:rPr lang="en-US" sz="1600" b="1">
                <a:solidFill>
                  <a:schemeClr val="accent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which passes the recipe object to renderChatResult() in features/renderChatResult.js.</a:t>
            </a:r>
            <a:r>
              <a:rPr lang="en-US" sz="1600" b="1">
                <a:solidFill>
                  <a:schemeClr val="accen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That function calls createChatCard() from components/createChatCard.js to build the card and displays it in the chat window.</a:t>
            </a:r>
            <a:endParaRPr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12642850" y="7393305"/>
            <a:ext cx="1906905" cy="79629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8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8"/>
          <p:cNvSpPr/>
          <p:nvPr/>
        </p:nvSpPr>
        <p:spPr>
          <a:xfrm>
            <a:off x="6280190" y="2872978"/>
            <a:ext cx="7556421" cy="1417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8900"/>
              <a:buFont typeface="Arial" panose="020B0604020202020204"/>
              <a:buNone/>
            </a:pPr>
            <a:r>
              <a:rPr lang="en-US" sz="8900">
                <a:solidFill>
                  <a:srgbClr val="3A3A3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Live Demo</a:t>
            </a:r>
            <a:endParaRPr sz="89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6280200" y="4630837"/>
            <a:ext cx="7556400" cy="18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000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750"/>
              <a:buFont typeface="Arial" panose="020B0604020202020204"/>
              <a:buNone/>
            </a:pPr>
            <a:r>
              <a:rPr lang="en-US" sz="1750">
                <a:solidFill>
                  <a:srgbClr val="4C4C4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See Cookbook in action — from browsing global recipes to chatting with the AI assistant.</a:t>
            </a:r>
            <a:endParaRPr sz="1750">
              <a:solidFill>
                <a:srgbClr val="4C4C4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63000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750"/>
              <a:buFont typeface="Arial" panose="020B0604020202020204"/>
              <a:buNone/>
            </a:pPr>
            <a:endParaRPr sz="1750">
              <a:solidFill>
                <a:srgbClr val="4C4C4C"/>
              </a:solidFill>
            </a:endParaRPr>
          </a:p>
          <a:p>
            <a:pPr marL="0" marR="0" lvl="0" indent="0" algn="l" rtl="0">
              <a:lnSpc>
                <a:spcPct val="163000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750"/>
              <a:buFont typeface="Arial" panose="020B0604020202020204"/>
              <a:buNone/>
            </a:pPr>
            <a:r>
              <a:rPr lang="en-US" sz="1750" u="sng">
                <a:solidFill>
                  <a:schemeClr val="hlink"/>
                </a:solidFill>
                <a:hlinkClick r:id="rId2"/>
              </a:rPr>
              <a:t>https://c55-core-project-group-4-cookbook.onrender.com/</a:t>
            </a:r>
            <a:endParaRPr sz="1750">
              <a:solidFill>
                <a:srgbClr val="4C4C4C"/>
              </a:solidFill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12642850" y="7393305"/>
            <a:ext cx="1906905" cy="79629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9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9"/>
          <p:cNvSpPr/>
          <p:nvPr/>
        </p:nvSpPr>
        <p:spPr>
          <a:xfrm>
            <a:off x="6280190" y="1119902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4450"/>
              <a:buFont typeface="Arial" panose="020B0604020202020204"/>
              <a:buNone/>
            </a:pPr>
            <a:r>
              <a:rPr lang="en-US" sz="4450">
                <a:solidFill>
                  <a:srgbClr val="3A3A3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Thank You</a:t>
            </a:r>
            <a:endParaRPr sz="44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6280190" y="2168843"/>
            <a:ext cx="7556421" cy="1088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000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750"/>
              <a:buFont typeface="Arial" panose="020B0604020202020204"/>
              <a:buNone/>
            </a:pPr>
            <a:r>
              <a:rPr lang="en-US" sz="1750">
                <a:solidFill>
                  <a:srgbClr val="4C4C4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That concludes our presentation of </a:t>
            </a:r>
            <a:r>
              <a:rPr lang="en-US" sz="1750" b="1">
                <a:solidFill>
                  <a:srgbClr val="4C4C4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Cookbook</a:t>
            </a:r>
            <a:r>
              <a:rPr lang="en-US" sz="1750">
                <a:solidFill>
                  <a:srgbClr val="4C4C4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— a recipe discovery app built with care, clean architecture, and a touch of AI. We welcome any questions from the audience.</a:t>
            </a:r>
            <a:endParaRPr sz="17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6280190" y="3512701"/>
            <a:ext cx="3664744" cy="2047994"/>
          </a:xfrm>
          <a:prstGeom prst="roundRect">
            <a:avLst>
              <a:gd name="adj" fmla="val 4652"/>
            </a:avLst>
          </a:prstGeom>
          <a:solidFill>
            <a:srgbClr val="E6DED2">
              <a:alpha val="50196"/>
            </a:srgbClr>
          </a:solidFill>
          <a:ln w="9525" cap="flat" cmpd="sng">
            <a:solidFill>
              <a:srgbClr val="CCC4B8"/>
            </a:solidFill>
            <a:prstDash val="solid"/>
            <a:round/>
            <a:headEnd type="none" w="sm" len="sm"/>
            <a:tailEnd type="none" w="sm" len="sm"/>
          </a:ln>
          <a:effectLst>
            <a:outerShdw dist="29210" dir="2700000" algn="bl" rotWithShape="0">
              <a:srgbClr val="CCC4B8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7" name="Google Shape;167;p9"/>
          <p:cNvSpPr/>
          <p:nvPr/>
        </p:nvSpPr>
        <p:spPr>
          <a:xfrm>
            <a:off x="6514624" y="374713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 panose="020B0604020202020204"/>
              <a:buNone/>
            </a:pPr>
            <a:r>
              <a:rPr lang="en-US" sz="22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Frontend</a:t>
            </a:r>
            <a:endParaRPr sz="2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6514624" y="4237553"/>
            <a:ext cx="3195876" cy="1088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 panose="020B0604020202020204"/>
              <a:buNone/>
            </a:pPr>
            <a:r>
              <a:rPr lang="en-US" sz="175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Modular structure with features, components, services, and events</a:t>
            </a:r>
            <a:endParaRPr sz="17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10171748" y="3512701"/>
            <a:ext cx="3664863" cy="2047994"/>
          </a:xfrm>
          <a:prstGeom prst="roundRect">
            <a:avLst>
              <a:gd name="adj" fmla="val 4652"/>
            </a:avLst>
          </a:prstGeom>
          <a:solidFill>
            <a:srgbClr val="E6DED2">
              <a:alpha val="50196"/>
            </a:srgbClr>
          </a:solidFill>
          <a:ln w="9525" cap="flat" cmpd="sng">
            <a:solidFill>
              <a:srgbClr val="CCC4B8"/>
            </a:solidFill>
            <a:prstDash val="solid"/>
            <a:round/>
            <a:headEnd type="none" w="sm" len="sm"/>
            <a:tailEnd type="none" w="sm" len="sm"/>
          </a:ln>
          <a:effectLst>
            <a:outerShdw dist="29210" dir="2700000" algn="bl" rotWithShape="0">
              <a:srgbClr val="CCC4B8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0" name="Google Shape;170;p9"/>
          <p:cNvSpPr/>
          <p:nvPr/>
        </p:nvSpPr>
        <p:spPr>
          <a:xfrm>
            <a:off x="10406182" y="374713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 panose="020B0604020202020204"/>
              <a:buNone/>
            </a:pPr>
            <a:r>
              <a:rPr lang="en-US" sz="22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Backend</a:t>
            </a:r>
            <a:endParaRPr sz="2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10406182" y="4237553"/>
            <a:ext cx="3195995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 panose="020B0604020202020204"/>
              <a:buNone/>
            </a:pPr>
            <a:r>
              <a:rPr lang="en-US" sz="175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Express + SQLite + GitHub Models API (GPT-4.1)</a:t>
            </a:r>
            <a:endParaRPr sz="17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6280190" y="5787509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E6DED2">
              <a:alpha val="50196"/>
            </a:srgbClr>
          </a:solidFill>
          <a:ln w="9525" cap="flat" cmpd="sng">
            <a:solidFill>
              <a:srgbClr val="CCC4B8"/>
            </a:solidFill>
            <a:prstDash val="solid"/>
            <a:round/>
            <a:headEnd type="none" w="sm" len="sm"/>
            <a:tailEnd type="none" w="sm" len="sm"/>
          </a:ln>
          <a:effectLst>
            <a:outerShdw dist="29210" dir="2700000" algn="bl" rotWithShape="0">
              <a:srgbClr val="CCC4B8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3" name="Google Shape;173;p9"/>
          <p:cNvSpPr/>
          <p:nvPr/>
        </p:nvSpPr>
        <p:spPr>
          <a:xfrm>
            <a:off x="6514624" y="602194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 panose="020B0604020202020204"/>
              <a:buNone/>
            </a:pPr>
            <a:r>
              <a:rPr lang="en-US" sz="22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Highlights</a:t>
            </a:r>
            <a:endParaRPr sz="2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6514624" y="6512362"/>
            <a:ext cx="7087553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 panose="020B0604020202020204"/>
              <a:buNone/>
            </a:pPr>
            <a:r>
              <a:rPr lang="en-US" sz="175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AI chatbot, TheMealDB integration, and CI/CD pipeline</a:t>
            </a:r>
            <a:endParaRPr sz="175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12642850" y="7393305"/>
            <a:ext cx="1906905" cy="79629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3285</Words>
  <Application>WPS Presentation</Application>
  <PresentationFormat/>
  <Paragraphs>95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18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yosef</cp:lastModifiedBy>
  <cp:revision>2</cp:revision>
  <dcterms:created xsi:type="dcterms:W3CDTF">2026-04-21T07:34:59Z</dcterms:created>
  <dcterms:modified xsi:type="dcterms:W3CDTF">2026-04-21T07:36:27Z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B79953CF52354B7DB0DF0AF5E08BCE83_13</vt:lpwstr>
  </property>
  <property fmtid="{D5CDD505-2E9C-101B-9397-08002B2CF9AE}" pid="3" name="KSOProductBuildVer">
    <vt:lpwstr>1033-12.2.0.23196</vt:lpwstr>
  </property>
</Properties>
</file>